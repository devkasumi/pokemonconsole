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73" r:id="rId9"/>
    <p:sldId id="262" r:id="rId10"/>
    <p:sldId id="278" r:id="rId11"/>
    <p:sldId id="274" r:id="rId12"/>
    <p:sldId id="271" r:id="rId13"/>
    <p:sldId id="275" r:id="rId14"/>
    <p:sldId id="264" r:id="rId15"/>
    <p:sldId id="276" r:id="rId16"/>
    <p:sldId id="277" r:id="rId17"/>
    <p:sldId id="265" r:id="rId18"/>
    <p:sldId id="267" r:id="rId19"/>
    <p:sldId id="268" r:id="rId20"/>
    <p:sldId id="269" r:id="rId21"/>
    <p:sldId id="270" r:id="rId22"/>
  </p:sldIdLst>
  <p:sldSz cx="12192000" cy="6858000"/>
  <p:notesSz cx="6858000" cy="9144000"/>
  <p:embeddedFontLst>
    <p:embeddedFont>
      <p:font typeface="Helvetica Neue" panose="020B0604020202020204" charset="0"/>
      <p:regular r:id="rId24"/>
      <p:bold r:id="rId25"/>
      <p:italic r:id="rId26"/>
      <p:boldItalic r:id="rId27"/>
    </p:embeddedFont>
    <p:embeddedFont>
      <p:font typeface="Helvetica Neue Light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2" roundtripDataSignature="AMtx7mjQzsN6F5iOvpaxnahMAkKru8cO+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32"/>
    <p:restoredTop sz="94630"/>
  </p:normalViewPr>
  <p:slideViewPr>
    <p:cSldViewPr snapToGrid="0">
      <p:cViewPr varScale="1">
        <p:scale>
          <a:sx n="78" d="100"/>
          <a:sy n="78" d="100"/>
        </p:scale>
        <p:origin x="67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68541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9" name="Google Shape;18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Title Slide" type="title">
  <p:cSld name="TITLE">
    <p:bg>
      <p:bgPr>
        <a:gradFill>
          <a:gsLst>
            <a:gs pos="0">
              <a:srgbClr val="002060"/>
            </a:gs>
            <a:gs pos="85000">
              <a:srgbClr val="2F5496"/>
            </a:gs>
            <a:gs pos="91000">
              <a:srgbClr val="3864B2"/>
            </a:gs>
            <a:gs pos="97000">
              <a:srgbClr val="2C4E8C"/>
            </a:gs>
            <a:gs pos="100000">
              <a:srgbClr val="2C4E8C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1" name="Google Shape;21;p17"/>
          <p:cNvPicPr preferRelativeResize="0">
            <a:picLocks noChangeAspect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88218" y="278924"/>
            <a:ext cx="3780000" cy="69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98EEBE-B348-1520-19D4-043D4012993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898262" y="274638"/>
            <a:ext cx="3975100" cy="5969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>
            <a:spLocks noGrp="1"/>
          </p:cNvSpPr>
          <p:nvPr>
            <p:ph type="title"/>
          </p:nvPr>
        </p:nvSpPr>
        <p:spPr>
          <a:xfrm>
            <a:off x="838200" y="263301"/>
            <a:ext cx="10515600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Helvetica Neue"/>
              <a:buNone/>
              <a:defRPr sz="37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Font typeface="Helvetica Neue"/>
              <a:buNone/>
              <a:defRPr sz="3700" b="1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body" idx="1"/>
          </p:nvPr>
        </p:nvSpPr>
        <p:spPr>
          <a:xfrm>
            <a:off x="838200" y="1074057"/>
            <a:ext cx="10515600" cy="5128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Helvetica Neue"/>
              <a:buChar char="•"/>
              <a:defRPr>
                <a:solidFill>
                  <a:srgbClr val="00206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sldNum" idx="12"/>
          </p:nvPr>
        </p:nvSpPr>
        <p:spPr>
          <a:xfrm>
            <a:off x="10000340" y="6356350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18"/>
          <p:cNvSpPr txBox="1"/>
          <p:nvPr/>
        </p:nvSpPr>
        <p:spPr>
          <a:xfrm>
            <a:off x="3102600" y="6488700"/>
            <a:ext cx="5986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1">
                <a:solidFill>
                  <a:srgbClr val="88888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Group Name - Project Name</a:t>
            </a:r>
            <a:endParaRPr sz="1200" i="1">
              <a:solidFill>
                <a:srgbClr val="888888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6000"/>
              <a:buFont typeface="Calibri"/>
              <a:buNone/>
              <a:defRPr sz="6000">
                <a:solidFill>
                  <a:srgbClr val="00206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>
                <a:solidFill>
                  <a:srgbClr val="002060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dt" idx="10"/>
          </p:nvPr>
        </p:nvSpPr>
        <p:spPr>
          <a:xfrm>
            <a:off x="838200" y="6364028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sldNum" idx="12"/>
          </p:nvPr>
        </p:nvSpPr>
        <p:spPr>
          <a:xfrm>
            <a:off x="10014856" y="6356350"/>
            <a:ext cx="133894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>
            <a:spLocks noGrp="1"/>
          </p:cNvSpPr>
          <p:nvPr>
            <p:ph type="title"/>
          </p:nvPr>
        </p:nvSpPr>
        <p:spPr>
          <a:xfrm>
            <a:off x="838200" y="278042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body" idx="1"/>
          </p:nvPr>
        </p:nvSpPr>
        <p:spPr>
          <a:xfrm>
            <a:off x="838200" y="1092429"/>
            <a:ext cx="5181600" cy="5084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  <a:defRPr>
                <a:solidFill>
                  <a:srgbClr val="002060"/>
                </a:solidFill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>
                <a:solidFill>
                  <a:srgbClr val="002060"/>
                </a:solidFill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>
                <a:solidFill>
                  <a:srgbClr val="002060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2"/>
          </p:nvPr>
        </p:nvSpPr>
        <p:spPr>
          <a:xfrm>
            <a:off x="6172200" y="1092429"/>
            <a:ext cx="5181600" cy="5084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  <a:defRPr>
                <a:solidFill>
                  <a:srgbClr val="002060"/>
                </a:solidFill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>
                <a:solidFill>
                  <a:srgbClr val="002060"/>
                </a:solidFill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>
                <a:solidFill>
                  <a:srgbClr val="002060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>
                <a:solidFill>
                  <a:srgbClr val="002060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839788" y="263527"/>
            <a:ext cx="10515600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836612" y="1197884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839788" y="2021796"/>
            <a:ext cx="5157787" cy="4167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3"/>
          </p:nvPr>
        </p:nvSpPr>
        <p:spPr>
          <a:xfrm>
            <a:off x="6194427" y="1197884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body" idx="4"/>
          </p:nvPr>
        </p:nvSpPr>
        <p:spPr>
          <a:xfrm>
            <a:off x="6172200" y="2021796"/>
            <a:ext cx="5183188" cy="4167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4943344" y="987425"/>
            <a:ext cx="6408867" cy="521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41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5203513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4133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525141" y="-1631060"/>
            <a:ext cx="5141719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ustom Layout">
  <p:cSld name="Custom Layou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Custom Layout">
  <p:cSld name="1_Custom Layout">
    <p:bg>
      <p:bgPr>
        <a:solidFill>
          <a:schemeClr val="dk1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7"/>
          <p:cNvSpPr txBox="1"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7"/>
          <p:cNvSpPr txBox="1"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17315" y="345287"/>
            <a:ext cx="1219200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6"/>
          <p:cNvSpPr txBox="1">
            <a:spLocks noGrp="1"/>
          </p:cNvSpPr>
          <p:nvPr>
            <p:ph type="title"/>
          </p:nvPr>
        </p:nvSpPr>
        <p:spPr>
          <a:xfrm>
            <a:off x="838200" y="254955"/>
            <a:ext cx="10515600" cy="677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  <a:defRPr sz="2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body" idx="1"/>
          </p:nvPr>
        </p:nvSpPr>
        <p:spPr>
          <a:xfrm>
            <a:off x="838200" y="1055881"/>
            <a:ext cx="10515600" cy="5141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3" name="Google Shape;13;p16"/>
          <p:cNvSpPr txBox="1">
            <a:spLocks noGrp="1"/>
          </p:cNvSpPr>
          <p:nvPr>
            <p:ph type="dt" idx="10"/>
          </p:nvPr>
        </p:nvSpPr>
        <p:spPr>
          <a:xfrm>
            <a:off x="838201" y="6356350"/>
            <a:ext cx="141151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ftr" idx="11"/>
          </p:nvPr>
        </p:nvSpPr>
        <p:spPr>
          <a:xfrm>
            <a:off x="2365828" y="6356350"/>
            <a:ext cx="74893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sldNum" idx="12"/>
          </p:nvPr>
        </p:nvSpPr>
        <p:spPr>
          <a:xfrm>
            <a:off x="9985828" y="6356350"/>
            <a:ext cx="13679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87C01C-7BE4-3A7F-7CC9-2A0537B6B934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225128" y="345235"/>
            <a:ext cx="2880000" cy="4320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85000">
              <a:srgbClr val="2F5496"/>
            </a:gs>
            <a:gs pos="91000">
              <a:srgbClr val="3864B2"/>
            </a:gs>
            <a:gs pos="97000">
              <a:srgbClr val="2C4E8C"/>
            </a:gs>
            <a:gs pos="100000">
              <a:srgbClr val="2C4E8C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602566" y="1214438"/>
            <a:ext cx="10986868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Helvetica Neue"/>
              <a:buNone/>
            </a:pPr>
            <a:r>
              <a:rPr lang="en-US" b="1" dirty="0" err="1">
                <a:latin typeface="+mj-lt"/>
                <a:ea typeface="Helvetica Neue"/>
                <a:cs typeface="Helvetica Neue"/>
                <a:sym typeface="Helvetica Neue"/>
              </a:rPr>
              <a:t>Pokemon</a:t>
            </a:r>
            <a:r>
              <a:rPr lang="en-US" b="1" dirty="0">
                <a:latin typeface="+mj-lt"/>
                <a:ea typeface="Helvetica Neue"/>
                <a:cs typeface="Helvetica Neue"/>
                <a:sym typeface="Helvetica Neue"/>
              </a:rPr>
              <a:t> Game</a:t>
            </a:r>
            <a:endParaRPr sz="4800" b="1" dirty="0">
              <a:latin typeface="+mj-lt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1"/>
          <p:cNvSpPr txBox="1">
            <a:spLocks noGrp="1"/>
          </p:cNvSpPr>
          <p:nvPr>
            <p:ph type="subTitle" idx="1"/>
          </p:nvPr>
        </p:nvSpPr>
        <p:spPr>
          <a:xfrm>
            <a:off x="602566" y="3987800"/>
            <a:ext cx="10986867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>
              <a:spcBef>
                <a:spcPts val="0"/>
              </a:spcBef>
            </a:pPr>
            <a:r>
              <a:rPr lang="en-US" dirty="0">
                <a:latin typeface="+mj-lt"/>
                <a:ea typeface="Helvetica Neue"/>
                <a:cs typeface="Helvetica Neue"/>
                <a:sym typeface="Helvetica Neue"/>
              </a:rPr>
              <a:t>Class Name:	K25ISTG01 2.0</a:t>
            </a:r>
            <a:endParaRPr dirty="0">
              <a:latin typeface="+mj-lt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 dirty="0">
                <a:latin typeface="+mj-lt"/>
                <a:ea typeface="Helvetica Neue"/>
                <a:cs typeface="Helvetica Neue"/>
                <a:sym typeface="Helvetica Neue"/>
              </a:rPr>
              <a:t>Group Name: Nha Bui</a:t>
            </a:r>
            <a:endParaRPr dirty="0">
              <a:latin typeface="+mj-lt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 dirty="0">
                <a:latin typeface="+mj-lt"/>
                <a:ea typeface="Helvetica Neue"/>
                <a:cs typeface="Helvetica Neue"/>
                <a:sym typeface="Helvetica Neue"/>
              </a:rPr>
              <a:t>Members: Bui Dang Nha</a:t>
            </a:r>
            <a:endParaRPr dirty="0">
              <a:latin typeface="+mj-lt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 dirty="0">
                <a:latin typeface="+mj-lt"/>
                <a:ea typeface="Helvetica Neue"/>
                <a:cs typeface="Helvetica Neue"/>
                <a:sym typeface="Helvetica Neue"/>
              </a:rPr>
              <a:t>			</a:t>
            </a:r>
            <a:endParaRPr dirty="0">
              <a:latin typeface="+mj-lt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 lang="en-US" dirty="0">
                <a:latin typeface="+mj-lt"/>
              </a:rPr>
              <a:t>OBJECTIVES</a:t>
            </a:r>
            <a:endParaRPr dirty="0">
              <a:latin typeface="+mj-lt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096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r>
              <a:rPr lang="en-US" sz="2400" dirty="0">
                <a:latin typeface="+mn-lt"/>
              </a:rPr>
              <a:t>Project </a:t>
            </a:r>
            <a:r>
              <a:rPr lang="en-US" sz="2400" dirty="0">
                <a:latin typeface="+mj-lt"/>
              </a:rPr>
              <a:t>Introduction</a:t>
            </a:r>
          </a:p>
          <a:p>
            <a:pPr marL="6096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r>
              <a:rPr lang="en-US" sz="2400" dirty="0">
                <a:latin typeface="+mj-lt"/>
              </a:rPr>
              <a:t>Customer Requirement</a:t>
            </a:r>
          </a:p>
          <a:p>
            <a:pPr marL="6096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r>
              <a:rPr lang="en-US" sz="2400" dirty="0">
                <a:latin typeface="+mj-lt"/>
              </a:rPr>
              <a:t>Use Cases</a:t>
            </a:r>
          </a:p>
          <a:p>
            <a:pPr marL="6096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r>
              <a:rPr lang="en-US" sz="2400" dirty="0">
                <a:latin typeface="+mj-lt"/>
              </a:rPr>
              <a:t>Activities Diagram</a:t>
            </a:r>
          </a:p>
          <a:p>
            <a:pPr marL="6096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r>
              <a:rPr lang="en-US" sz="2400" dirty="0">
                <a:latin typeface="+mj-lt"/>
              </a:rPr>
              <a:t>Class Diagram </a:t>
            </a:r>
          </a:p>
          <a:p>
            <a:pPr marL="6096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r>
              <a:rPr lang="en-US" sz="2400" dirty="0">
                <a:latin typeface="+mj-lt"/>
              </a:rPr>
              <a:t>Sequence Diagram</a:t>
            </a:r>
          </a:p>
          <a:p>
            <a:pPr marL="6096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r>
              <a:rPr lang="en-US" sz="2400" dirty="0">
                <a:latin typeface="+mj-lt"/>
              </a:rPr>
              <a:t>Database Design (ERD)</a:t>
            </a:r>
          </a:p>
          <a:p>
            <a:pPr marL="6096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r>
              <a:rPr lang="en-US" sz="2400" dirty="0">
                <a:latin typeface="+mj-lt"/>
              </a:rPr>
              <a:t>UI Design</a:t>
            </a:r>
          </a:p>
          <a:p>
            <a:pPr marL="6096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r>
              <a:rPr lang="en-US" sz="2400" dirty="0">
                <a:latin typeface="+mj-lt"/>
              </a:rPr>
              <a:t>Testing (Unit Test)</a:t>
            </a:r>
          </a:p>
          <a:p>
            <a:pPr marL="6096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r>
              <a:rPr lang="en-US" sz="2400" dirty="0">
                <a:latin typeface="+mj-lt"/>
              </a:rPr>
              <a:t>Advantages and Disadvantages of Project</a:t>
            </a:r>
          </a:p>
          <a:p>
            <a:pPr marL="609600" lvl="0" indent="-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endParaRPr lang="en-US" sz="2400" dirty="0">
              <a:latin typeface="+mj-lt"/>
            </a:endParaRPr>
          </a:p>
          <a:p>
            <a:pPr marL="609600" lvl="0" indent="-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AutoNum type="arabicPeriod"/>
            </a:pPr>
            <a:endParaRPr sz="2400"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 txBox="1"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 lang="en-US" dirty="0">
                <a:latin typeface="+mj-lt"/>
              </a:rPr>
              <a:t>INTRODUCTION TO PROJECT</a:t>
            </a:r>
            <a:endParaRPr dirty="0">
              <a:latin typeface="+mj-lt"/>
            </a:endParaRPr>
          </a:p>
        </p:txBody>
      </p:sp>
      <p:sp>
        <p:nvSpPr>
          <p:cNvPr id="105" name="Google Shape;105;p3"/>
          <p:cNvSpPr txBox="1"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r>
              <a:rPr lang="en-US" sz="2400" dirty="0">
                <a:latin typeface="+mj-lt"/>
              </a:rPr>
              <a:t>Project Name: </a:t>
            </a:r>
            <a:r>
              <a:rPr lang="en-US" sz="2400" dirty="0" err="1">
                <a:latin typeface="+mj-lt"/>
              </a:rPr>
              <a:t>Pokemon</a:t>
            </a:r>
            <a:r>
              <a:rPr lang="en-US" sz="2400" dirty="0">
                <a:latin typeface="+mj-lt"/>
              </a:rPr>
              <a:t> Game</a:t>
            </a: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r>
              <a:rPr lang="en-US" sz="2400" dirty="0">
                <a:latin typeface="+mj-lt"/>
              </a:rPr>
              <a:t>Project Description: A turn-based console game inspired by the Pokémon series, where players can catch, train, and battle Pokémon. The game features story mode, </a:t>
            </a:r>
            <a:r>
              <a:rPr lang="en-US" sz="2400" dirty="0" err="1">
                <a:latin typeface="+mj-lt"/>
              </a:rPr>
              <a:t>PvE</a:t>
            </a:r>
            <a:r>
              <a:rPr lang="en-US" sz="2400" dirty="0">
                <a:latin typeface="+mj-lt"/>
              </a:rPr>
              <a:t> and PvP battles, inventory management, and a progression system.</a:t>
            </a: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r>
              <a:rPr lang="en-US" sz="2400" dirty="0">
                <a:latin typeface="+mj-lt"/>
              </a:rPr>
              <a:t>Technologies: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</a:pPr>
            <a:r>
              <a:rPr lang="en-US" sz="2000" dirty="0">
                <a:latin typeface="+mj-lt"/>
              </a:rPr>
              <a:t>Programming language: C# (.NET 9.0)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</a:pPr>
            <a:r>
              <a:rPr lang="en-US" sz="2000" dirty="0">
                <a:latin typeface="+mj-lt"/>
              </a:rPr>
              <a:t>Database: MySQL</a:t>
            </a:r>
          </a:p>
        </p:txBody>
      </p:sp>
      <p:sp>
        <p:nvSpPr>
          <p:cNvPr id="106" name="Google Shape;106;p3"/>
          <p:cNvSpPr txBox="1"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CUSTOMER REQUIREMENTS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Google Shape;113;p4"/>
          <p:cNvSpPr txBox="1"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2400" dirty="0">
                <a:latin typeface="+mj-lt"/>
              </a:rPr>
              <a:t>Players can register and log in to their accounts.</a:t>
            </a:r>
          </a:p>
          <a:p>
            <a:r>
              <a:rPr lang="en-US" sz="2400" dirty="0">
                <a:latin typeface="+mj-lt"/>
              </a:rPr>
              <a:t>Players can catch and train Pokémon.</a:t>
            </a:r>
          </a:p>
          <a:p>
            <a:r>
              <a:rPr lang="en-US" sz="2400" dirty="0">
                <a:latin typeface="+mj-lt"/>
              </a:rPr>
              <a:t>The game supports both </a:t>
            </a:r>
            <a:r>
              <a:rPr lang="en-US" sz="2400" dirty="0" err="1">
                <a:latin typeface="+mj-lt"/>
              </a:rPr>
              <a:t>PvE</a:t>
            </a:r>
            <a:r>
              <a:rPr lang="en-US" sz="2400" dirty="0">
                <a:latin typeface="+mj-lt"/>
              </a:rPr>
              <a:t> (player vs environment) and PvP (player vs player) battle modes.</a:t>
            </a:r>
          </a:p>
          <a:p>
            <a:r>
              <a:rPr lang="en-US" sz="2400" dirty="0">
                <a:latin typeface="+mj-lt"/>
              </a:rPr>
              <a:t>The game must allow players to challenge each other in real-time PvP battles, where each player selects their team of Pokémon and takes turns choosing moves. The system should handle matchmaking, turn order, and display battle results, including win/loss and experience gained.</a:t>
            </a:r>
          </a:p>
          <a:p>
            <a:endParaRPr lang="en-US" dirty="0"/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endParaRPr lang="en-US" sz="2400" dirty="0">
              <a:latin typeface="+mn-lt"/>
            </a:endParaRPr>
          </a:p>
        </p:txBody>
      </p:sp>
      <p:sp>
        <p:nvSpPr>
          <p:cNvPr id="114" name="Google Shape;114;p4"/>
          <p:cNvSpPr txBox="1"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 lang="en-US" dirty="0"/>
              <a:t>USE CASE</a:t>
            </a:r>
            <a:endParaRPr dirty="0"/>
          </a:p>
        </p:txBody>
      </p:sp>
      <p:sp>
        <p:nvSpPr>
          <p:cNvPr id="121" name="Google Shape;121;p5"/>
          <p:cNvSpPr txBox="1"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Use case list						Use case diagram</a:t>
            </a: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endParaRPr lang="en-US" sz="2400" dirty="0">
              <a:latin typeface="+mj-lt"/>
              <a:cs typeface="Arial" panose="020B0604020202020204" pitchFamily="34" charset="0"/>
            </a:endParaRPr>
          </a:p>
          <a:p>
            <a:pPr lvl="1"/>
            <a:r>
              <a:rPr lang="en-US" sz="1800" dirty="0">
                <a:latin typeface="+mj-lt"/>
              </a:rPr>
              <a:t>Register Account</a:t>
            </a:r>
          </a:p>
          <a:p>
            <a:pPr lvl="1"/>
            <a:r>
              <a:rPr lang="en-US" sz="1800" dirty="0">
                <a:latin typeface="+mj-lt"/>
              </a:rPr>
              <a:t>Login</a:t>
            </a:r>
          </a:p>
          <a:p>
            <a:pPr lvl="1"/>
            <a:r>
              <a:rPr lang="en-US" sz="1800" dirty="0">
                <a:latin typeface="+mj-lt"/>
              </a:rPr>
              <a:t>Catch Pokémon</a:t>
            </a:r>
          </a:p>
          <a:p>
            <a:pPr lvl="1"/>
            <a:r>
              <a:rPr lang="en-US" sz="1800" dirty="0">
                <a:latin typeface="+mj-lt"/>
              </a:rPr>
              <a:t>Train Pokémon</a:t>
            </a:r>
          </a:p>
          <a:p>
            <a:pPr lvl="1"/>
            <a:r>
              <a:rPr lang="en-US" sz="1800" dirty="0">
                <a:latin typeface="+mj-lt"/>
              </a:rPr>
              <a:t>Battle Wild Pokémon (</a:t>
            </a:r>
            <a:r>
              <a:rPr lang="en-US" sz="1800" dirty="0" err="1">
                <a:latin typeface="+mj-lt"/>
              </a:rPr>
              <a:t>PvE</a:t>
            </a:r>
            <a:r>
              <a:rPr lang="en-US" sz="1800" dirty="0">
                <a:latin typeface="+mj-lt"/>
              </a:rPr>
              <a:t>)</a:t>
            </a:r>
          </a:p>
          <a:p>
            <a:pPr lvl="1"/>
            <a:r>
              <a:rPr lang="en-US" sz="1800" dirty="0">
                <a:latin typeface="+mj-lt"/>
              </a:rPr>
              <a:t>Battle Other Players (PvP)</a:t>
            </a:r>
          </a:p>
          <a:p>
            <a:pPr lvl="1"/>
            <a:r>
              <a:rPr lang="en-US" sz="1800" dirty="0">
                <a:latin typeface="+mj-lt"/>
              </a:rPr>
              <a:t>Use Items</a:t>
            </a:r>
          </a:p>
          <a:p>
            <a:pPr lvl="1"/>
            <a:r>
              <a:rPr lang="en-US" sz="1800" dirty="0">
                <a:latin typeface="+mj-lt"/>
              </a:rPr>
              <a:t>View Inventory</a:t>
            </a:r>
          </a:p>
          <a:p>
            <a:pPr lvl="1"/>
            <a:r>
              <a:rPr lang="en-US" sz="1800" dirty="0">
                <a:latin typeface="+mj-lt"/>
              </a:rPr>
              <a:t>Save/Load Game Progress</a:t>
            </a:r>
          </a:p>
          <a:p>
            <a:pPr marL="952500" lvl="1" indent="-342900">
              <a:lnSpc>
                <a:spcPct val="120000"/>
              </a:lnSpc>
              <a:spcBef>
                <a:spcPts val="0"/>
              </a:spcBef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" name="Google Shape;122;p5"/>
          <p:cNvSpPr txBox="1"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B4200F-F512-F084-42B2-7D8169C28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904" y="1640500"/>
            <a:ext cx="6387990" cy="47047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"/>
          <p:cNvSpPr txBox="1"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 lang="en-US" dirty="0">
                <a:latin typeface="+mj-lt"/>
              </a:rPr>
              <a:t>ACTIVITY DIAGRAM</a:t>
            </a:r>
            <a:endParaRPr dirty="0">
              <a:latin typeface="+mj-lt"/>
            </a:endParaRPr>
          </a:p>
        </p:txBody>
      </p:sp>
      <p:sp>
        <p:nvSpPr>
          <p:cNvPr id="129" name="Google Shape;129;p6"/>
          <p:cNvSpPr txBox="1"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endParaRPr lang="en-US" sz="2400" dirty="0"/>
          </a:p>
        </p:txBody>
      </p:sp>
      <p:sp>
        <p:nvSpPr>
          <p:cNvPr id="130" name="Google Shape;130;p6"/>
          <p:cNvSpPr txBox="1"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FE85803-52C6-5FEF-145C-BC9D5EB19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851" y="1765830"/>
            <a:ext cx="4798877" cy="37304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BDB3A62-899E-042B-FC6B-DAC860E688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046" y="1151097"/>
            <a:ext cx="3666362" cy="49598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7E367-2B39-D254-2088-D4F8D155C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B6BDB2-AF08-CE70-1850-334735B52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D1B87-34C3-A620-040C-DF3EE6C938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A850D5-2397-7623-2138-B4D082F99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87" y="1823779"/>
            <a:ext cx="4490774" cy="39601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F3A144-9DA9-039A-4DBC-7A7CE4B5E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367" y="1185306"/>
            <a:ext cx="2751973" cy="490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54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A5853-45CD-7EE3-685D-9CC82EDA8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080AAB-5228-676B-9642-1BBC32587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UC9 PvP Battle		UC10 Save/Load Game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B7CB78-865F-0D67-C2A5-790A6A52B9E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E8DD4D-21DC-5CF2-1006-B8C316F5F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359" y="1710812"/>
            <a:ext cx="1520414" cy="43237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275F55-C883-41AD-3CFB-259308066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482" y="1710812"/>
            <a:ext cx="5436159" cy="4277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705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"/>
          <p:cNvSpPr txBox="1"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UI DESIGN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7" name="Google Shape;137;p7"/>
          <p:cNvSpPr txBox="1"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52400" indent="0">
              <a:lnSpc>
                <a:spcPct val="120000"/>
              </a:lnSpc>
              <a:spcBef>
                <a:spcPts val="0"/>
              </a:spcBef>
              <a:buSzPts val="2400"/>
              <a:buNone/>
            </a:pPr>
            <a:r>
              <a:rPr lang="en-US" sz="2400" dirty="0">
                <a:latin typeface="+mj-lt"/>
              </a:rPr>
              <a:t>Login							</a:t>
            </a:r>
            <a:r>
              <a:rPr lang="en-US" sz="2400" dirty="0" err="1">
                <a:latin typeface="+mj-lt"/>
              </a:rPr>
              <a:t>MainMenu</a:t>
            </a:r>
            <a:endParaRPr lang="en-US" sz="2400" dirty="0">
              <a:latin typeface="+mj-lt"/>
            </a:endParaRP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endParaRPr lang="en-US" sz="2400" dirty="0">
              <a:latin typeface="+mn-lt"/>
            </a:endParaRP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endParaRPr lang="en-US" sz="2400" dirty="0">
              <a:latin typeface="+mn-lt"/>
            </a:endParaRP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endParaRPr lang="en-US" sz="2400" dirty="0">
              <a:latin typeface="+mn-lt"/>
            </a:endParaRP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endParaRPr lang="en-US" sz="2400" dirty="0">
              <a:latin typeface="+mn-lt"/>
            </a:endParaRPr>
          </a:p>
        </p:txBody>
      </p:sp>
      <p:sp>
        <p:nvSpPr>
          <p:cNvPr id="138" name="Google Shape;138;p7"/>
          <p:cNvSpPr txBox="1"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537E42-FB05-D4D6-AABA-C4B4EC5AE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274" y="1675784"/>
            <a:ext cx="5111594" cy="44300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08EEE6-14EA-EC69-CE0E-D09DA449F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7337" y="1675784"/>
            <a:ext cx="4000500" cy="4076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C2B2C-2A6D-BCB2-FB1F-12AA932A3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UI DESIGN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0336BF-A0B4-7A7D-0BB5-242BAB363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50800" indent="0">
              <a:buNone/>
            </a:pPr>
            <a:r>
              <a:rPr lang="en-US" sz="2400" dirty="0"/>
              <a:t>Starter </a:t>
            </a:r>
            <a:r>
              <a:rPr lang="en-US" sz="2400" dirty="0" err="1"/>
              <a:t>Pokemon</a:t>
            </a:r>
            <a:r>
              <a:rPr lang="en-US" sz="2400" dirty="0"/>
              <a:t> Selection		Story Menu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A1D85-981F-A4FE-339C-9018E4EEE1A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72AFB1-754F-F4F8-033D-185701828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82" y="1668596"/>
            <a:ext cx="4000500" cy="4533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D06A62-F05C-DBF3-7836-CBAF2DB7B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68596"/>
            <a:ext cx="4000500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167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C283F-8AC3-E173-91EF-651A63AF3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UI DESIGN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FD54F-AD6E-2FDB-7AC2-6B5B34DD5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614" y="1074056"/>
            <a:ext cx="10515600" cy="5128439"/>
          </a:xfrm>
        </p:spPr>
        <p:txBody>
          <a:bodyPr/>
          <a:lstStyle/>
          <a:p>
            <a:pPr marL="50800" indent="0">
              <a:buNone/>
            </a:pPr>
            <a:r>
              <a:rPr lang="en-US" dirty="0" err="1">
                <a:latin typeface="+mj-lt"/>
              </a:rPr>
              <a:t>Pokemon</a:t>
            </a:r>
            <a:r>
              <a:rPr lang="en-US" dirty="0">
                <a:latin typeface="+mj-lt"/>
              </a:rPr>
              <a:t> Battle (</a:t>
            </a:r>
            <a:r>
              <a:rPr lang="en-US" dirty="0" err="1">
                <a:latin typeface="+mj-lt"/>
              </a:rPr>
              <a:t>PvE</a:t>
            </a:r>
            <a:r>
              <a:rPr lang="en-US" dirty="0">
                <a:latin typeface="+mj-lt"/>
              </a:rPr>
              <a:t>)			</a:t>
            </a:r>
            <a:r>
              <a:rPr lang="en-US" dirty="0" err="1">
                <a:latin typeface="+mj-lt"/>
              </a:rPr>
              <a:t>Pokemon</a:t>
            </a:r>
            <a:r>
              <a:rPr lang="en-US" dirty="0">
                <a:latin typeface="+mj-lt"/>
              </a:rPr>
              <a:t> Battle (PvP)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F51700-0966-FF67-496D-0AFA1C4A56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95529B-DF04-5B5A-60F1-C03E6C724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01" y="1755663"/>
            <a:ext cx="4000500" cy="3771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5DC5110-3E23-F38F-4B73-B8449D2D1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128" y="1573897"/>
            <a:ext cx="3082976" cy="443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58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/>
          <p:cNvSpPr txBox="1"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 lang="en-US" dirty="0">
                <a:latin typeface="+mj-lt"/>
              </a:rPr>
              <a:t>CLASS DIAGRAM</a:t>
            </a:r>
            <a:endParaRPr dirty="0">
              <a:latin typeface="+mj-lt"/>
            </a:endParaRPr>
          </a:p>
        </p:txBody>
      </p:sp>
      <p:sp>
        <p:nvSpPr>
          <p:cNvPr id="145" name="Google Shape;145;p8"/>
          <p:cNvSpPr txBox="1"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76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 sz="2400" dirty="0" err="1">
                <a:latin typeface="+mj-lt"/>
              </a:rPr>
              <a:t>BattleService</a:t>
            </a:r>
            <a:endParaRPr sz="2400" dirty="0">
              <a:latin typeface="+mj-lt"/>
            </a:endParaRPr>
          </a:p>
        </p:txBody>
      </p:sp>
      <p:sp>
        <p:nvSpPr>
          <p:cNvPr id="146" name="Google Shape;146;p8"/>
          <p:cNvSpPr txBox="1"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9E2C98-83EF-E763-18CA-1D1F241F4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50" y="1951798"/>
            <a:ext cx="11252149" cy="322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8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E3ED9-F538-4699-1502-205D7C4F4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BFAED-B4A6-66B5-8524-CE1EC5283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0800" indent="0">
              <a:buNone/>
            </a:pPr>
            <a:r>
              <a:rPr lang="en-US" dirty="0">
                <a:latin typeface="+mj-lt"/>
              </a:rPr>
              <a:t>PvP And Matchmaking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6F16B7-870E-BE2D-7BF4-41874C7D34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37929E-43B1-E9EF-F99F-4D5509852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628" y="1741374"/>
            <a:ext cx="6182744" cy="429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95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"/>
          <p:cNvSpPr txBox="1"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 lang="en-US" dirty="0">
                <a:latin typeface="+mj-lt"/>
              </a:rPr>
              <a:t>SEQUENCE DIAGRAM</a:t>
            </a:r>
            <a:endParaRPr dirty="0">
              <a:latin typeface="+mj-lt"/>
            </a:endParaRPr>
          </a:p>
        </p:txBody>
      </p:sp>
      <p:sp>
        <p:nvSpPr>
          <p:cNvPr id="153" name="Google Shape;153;p9"/>
          <p:cNvSpPr txBox="1"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76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 sz="2400" dirty="0">
                <a:latin typeface="+mj-lt"/>
              </a:rPr>
              <a:t>Login</a:t>
            </a:r>
            <a:endParaRPr sz="2400" dirty="0">
              <a:latin typeface="+mj-lt"/>
            </a:endParaRPr>
          </a:p>
        </p:txBody>
      </p:sp>
      <p:sp>
        <p:nvSpPr>
          <p:cNvPr id="154" name="Google Shape;154;p9"/>
          <p:cNvSpPr txBox="1"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4FB8FF-E526-F440-DEEC-6DED43801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9528" y="1448031"/>
            <a:ext cx="7736298" cy="4663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20319-F5A3-980C-C96E-BE5C4711B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A7742-DAC3-08C4-D073-42C56422C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0800" indent="0">
              <a:buNone/>
            </a:pPr>
            <a:r>
              <a:rPr lang="en-US" dirty="0">
                <a:latin typeface="+mj-lt"/>
              </a:rPr>
              <a:t>Wild Battle				PvP Battle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D4B78-4337-28BF-C4A0-864806DE4C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8658C2-0957-6516-243A-4FF6AFA3D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09596"/>
            <a:ext cx="4056346" cy="47293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77B1D31-0E9B-DF3F-E3E5-215299F0DA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849" y="1885832"/>
            <a:ext cx="6481071" cy="417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633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9C736-D5A8-A7DF-61CC-F16D64119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TABLE RELATIONSHIP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4F4AE6-005B-6353-C8BE-4843E4261B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Database 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EE4D5-3148-3934-ACA6-68B44DBD1DB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F4A89-0940-C420-97B8-6063A0FAC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658" y="1251762"/>
            <a:ext cx="3113909" cy="5228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221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ENTITY RELATIONSHIP DIAGRAM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1" name="Google Shape;161;p10"/>
          <p:cNvSpPr txBox="1"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76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</a:pPr>
            <a:r>
              <a:rPr lang="en-US" sz="2400" dirty="0">
                <a:latin typeface="+mj-lt"/>
              </a:rPr>
              <a:t>Entity Relationship Diagram</a:t>
            </a:r>
            <a:endParaRPr sz="2400" dirty="0">
              <a:latin typeface="+mj-lt"/>
            </a:endParaRPr>
          </a:p>
        </p:txBody>
      </p:sp>
      <p:sp>
        <p:nvSpPr>
          <p:cNvPr id="162" name="Google Shape;162;p10"/>
          <p:cNvSpPr txBox="1"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4DEE79-E5C7-F1FF-C504-EE73BAF1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7612" y="1455174"/>
            <a:ext cx="5775979" cy="49076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2"/>
          <p:cNvSpPr txBox="1"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 lang="en-US" sz="2800" dirty="0">
                <a:latin typeface="+mj-lt"/>
              </a:rPr>
              <a:t>TASK ASSIGNMENT (TO EACH GROUP MEMBER)</a:t>
            </a:r>
            <a:endParaRPr sz="2800" dirty="0">
              <a:latin typeface="+mj-lt"/>
            </a:endParaRPr>
          </a:p>
        </p:txBody>
      </p:sp>
      <p:sp>
        <p:nvSpPr>
          <p:cNvPr id="177" name="Google Shape;177;p12"/>
          <p:cNvSpPr txBox="1"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r>
              <a:rPr lang="en-US" sz="2400" dirty="0">
                <a:latin typeface="+mj-lt"/>
              </a:rPr>
              <a:t>Tasks in each working week</a:t>
            </a: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r>
              <a:rPr lang="en-US" sz="2400" dirty="0">
                <a:latin typeface="+mj-lt"/>
              </a:rPr>
              <a:t>Week 1 (x - y): Doing something</a:t>
            </a: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r>
              <a:rPr lang="en-US" sz="2400" dirty="0">
                <a:latin typeface="+mj-lt"/>
              </a:rPr>
              <a:t>Week 2….</a:t>
            </a:r>
            <a:endParaRPr sz="2400" dirty="0">
              <a:latin typeface="+mj-lt"/>
            </a:endParaRPr>
          </a:p>
        </p:txBody>
      </p:sp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163103" y="263301"/>
            <a:ext cx="11844998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Helvetica Neue Light"/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EXPERIENCE LEARNED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5" name="Google Shape;185;p13"/>
          <p:cNvSpPr txBox="1">
            <a:spLocks noGrp="1"/>
          </p:cNvSpPr>
          <p:nvPr>
            <p:ph type="body" idx="1"/>
          </p:nvPr>
        </p:nvSpPr>
        <p:spPr>
          <a:xfrm>
            <a:off x="165729" y="1074057"/>
            <a:ext cx="11844997" cy="5411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r>
              <a:rPr lang="en-US" sz="2400" dirty="0">
                <a:latin typeface="+mj-lt"/>
              </a:rPr>
              <a:t>Good thing</a:t>
            </a:r>
          </a:p>
          <a:p>
            <a:pPr marL="495300" indent="-342900">
              <a:lnSpc>
                <a:spcPct val="120000"/>
              </a:lnSpc>
              <a:spcBef>
                <a:spcPts val="0"/>
              </a:spcBef>
              <a:buSzPts val="2400"/>
            </a:pPr>
            <a:r>
              <a:rPr lang="en-US" sz="2400" dirty="0">
                <a:latin typeface="+mj-lt"/>
              </a:rPr>
              <a:t>Bad thing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10654642" y="6517962"/>
            <a:ext cx="135345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40837" y="1664596"/>
            <a:ext cx="3310326" cy="35288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"/>
          <p:cNvSpPr txBox="1"/>
          <p:nvPr/>
        </p:nvSpPr>
        <p:spPr>
          <a:xfrm>
            <a:off x="314179" y="2644170"/>
            <a:ext cx="11563642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 b="0" i="0" u="none" strike="noStrike" cap="none" dirty="0">
                <a:solidFill>
                  <a:schemeClr val="lt1"/>
                </a:solidFill>
                <a:latin typeface="+mj-lt"/>
                <a:ea typeface="Helvetica Neue Light"/>
                <a:cs typeface="Helvetica Neue Light"/>
                <a:sym typeface="Helvetica Neue Light"/>
              </a:rPr>
              <a:t>Q &amp; A</a:t>
            </a:r>
            <a:endParaRPr dirty="0">
              <a:latin typeface="+mj-l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VTCA-Slide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396</Words>
  <Application>Microsoft Office PowerPoint</Application>
  <PresentationFormat>Widescreen</PresentationFormat>
  <Paragraphs>103</Paragraphs>
  <Slides>21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Calibri</vt:lpstr>
      <vt:lpstr>Arial</vt:lpstr>
      <vt:lpstr>Helvetica Neue Light</vt:lpstr>
      <vt:lpstr>Helvetica Neue</vt:lpstr>
      <vt:lpstr>VTCA-SlideTheme</vt:lpstr>
      <vt:lpstr>Pokemon Game</vt:lpstr>
      <vt:lpstr>OBJECTIVES</vt:lpstr>
      <vt:lpstr>INTRODUCTION TO PROJECT</vt:lpstr>
      <vt:lpstr>CUSTOMER REQUIREMENTS</vt:lpstr>
      <vt:lpstr>USE CASE</vt:lpstr>
      <vt:lpstr>ACTIVITY DIAGRAM</vt:lpstr>
      <vt:lpstr>ACTIVITY DIAGRAM</vt:lpstr>
      <vt:lpstr>ACTIVITY DIAGRAM</vt:lpstr>
      <vt:lpstr>UI DESIGN</vt:lpstr>
      <vt:lpstr>UI DESIGN</vt:lpstr>
      <vt:lpstr>UI DESIGN</vt:lpstr>
      <vt:lpstr>CLASS DIAGRAM</vt:lpstr>
      <vt:lpstr>CLASS DIAGRAM</vt:lpstr>
      <vt:lpstr>SEQUENCE DIAGRAM</vt:lpstr>
      <vt:lpstr>SEQUENCE DIAGRAM</vt:lpstr>
      <vt:lpstr>DATABASE TABLE RELATIONSHIP</vt:lpstr>
      <vt:lpstr>ENTITY RELATIONSHIP DIAGRAM</vt:lpstr>
      <vt:lpstr>TASK ASSIGNMENT (TO EACH GROUP MEMBER)</vt:lpstr>
      <vt:lpstr>EXPERIENCE LEARNED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Name</dc:title>
  <dc:creator>sinhnx@vtc.edu.vn</dc:creator>
  <cp:lastModifiedBy>Nhã Bùi Đăng</cp:lastModifiedBy>
  <cp:revision>33</cp:revision>
  <dcterms:created xsi:type="dcterms:W3CDTF">2019-05-17T12:57:33Z</dcterms:created>
  <dcterms:modified xsi:type="dcterms:W3CDTF">2026-04-09T13:25:46Z</dcterms:modified>
</cp:coreProperties>
</file>